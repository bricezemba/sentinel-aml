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849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iceZemba/sentinel-a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A2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12700">
            <a:solidFill>
              <a:srgbClr val="3AB3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400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</a:t>
            </a: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AML</a:t>
            </a:r>
            <a:endParaRPr lang="en-US" sz="4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Investigation Case Manager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370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AgentHack</a:t>
            </a:r>
            <a:r>
              <a:rPr lang="en-US" sz="1500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1: Maestro Case.  Build the AI agents of tomorrow.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27080" y="4937760"/>
            <a:ext cx="310896" cy="310896"/>
          </a:xfrm>
          <a:prstGeom prst="rect">
            <a:avLst/>
          </a:prstGeom>
          <a:solidFill>
            <a:srgbClr val="0A5A66"/>
          </a:solidFill>
          <a:ln/>
        </p:spPr>
      </p:sp>
      <p:sp>
        <p:nvSpPr>
          <p:cNvPr id="7" name="Shape 5"/>
          <p:cNvSpPr/>
          <p:nvPr/>
        </p:nvSpPr>
        <p:spPr>
          <a:xfrm>
            <a:off x="10927080" y="5285232"/>
            <a:ext cx="310896" cy="310896"/>
          </a:xfrm>
          <a:prstGeom prst="rect">
            <a:avLst/>
          </a:prstGeom>
          <a:solidFill>
            <a:srgbClr val="0A7B88"/>
          </a:solidFill>
          <a:ln/>
        </p:spPr>
      </p:sp>
      <p:sp>
        <p:nvSpPr>
          <p:cNvPr id="8" name="Shape 6"/>
          <p:cNvSpPr/>
          <p:nvPr/>
        </p:nvSpPr>
        <p:spPr>
          <a:xfrm>
            <a:off x="11274552" y="5285232"/>
            <a:ext cx="310896" cy="310896"/>
          </a:xfrm>
          <a:prstGeom prst="rect">
            <a:avLst/>
          </a:prstGeom>
          <a:solidFill>
            <a:srgbClr val="0A5A66"/>
          </a:solidFill>
          <a:ln/>
        </p:spPr>
      </p:sp>
      <p:sp>
        <p:nvSpPr>
          <p:cNvPr id="9" name="Shape 7"/>
          <p:cNvSpPr/>
          <p:nvPr/>
        </p:nvSpPr>
        <p:spPr>
          <a:xfrm>
            <a:off x="10579608" y="5632704"/>
            <a:ext cx="310896" cy="310896"/>
          </a:xfrm>
          <a:prstGeom prst="rect">
            <a:avLst/>
          </a:prstGeom>
          <a:solidFill>
            <a:srgbClr val="0A7B88"/>
          </a:solidFill>
          <a:ln/>
        </p:spPr>
      </p:sp>
      <p:sp>
        <p:nvSpPr>
          <p:cNvPr id="10" name="Shape 8"/>
          <p:cNvSpPr/>
          <p:nvPr/>
        </p:nvSpPr>
        <p:spPr>
          <a:xfrm>
            <a:off x="10927080" y="5632704"/>
            <a:ext cx="310896" cy="310896"/>
          </a:xfrm>
          <a:prstGeom prst="rect">
            <a:avLst/>
          </a:prstGeom>
          <a:solidFill>
            <a:srgbClr val="0A5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1274552" y="5632704"/>
            <a:ext cx="310896" cy="310896"/>
          </a:xfrm>
          <a:prstGeom prst="rect">
            <a:avLst/>
          </a:prstGeom>
          <a:solidFill>
            <a:srgbClr val="1C8C9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</a:t>
            </a:r>
            <a:r>
              <a:rPr lang="en-US" sz="2400" b="1" dirty="0" err="1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TheSecond</a:t>
            </a: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Title: Sentinel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0868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87188" y="1920240"/>
            <a:ext cx="1828800" cy="1828800"/>
          </a:xfrm>
          <a:prstGeom prst="ellipse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75708" y="26289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84292" y="3886200"/>
            <a:ext cx="4991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cs typeface="Arial" pitchFamily="34" charset="-120"/>
              </a:rPr>
              <a:t>ZEMBA </a:t>
            </a:r>
            <a:r>
              <a:rPr lang="en-US" sz="2400" b="1" dirty="0" err="1" smtClean="0">
                <a:solidFill>
                  <a:srgbClr val="16181D"/>
                </a:solidFill>
                <a:latin typeface="Arial" pitchFamily="34" charset="0"/>
                <a:cs typeface="Arial" pitchFamily="34" charset="-120"/>
              </a:rPr>
              <a:t>Wendemi</a:t>
            </a:r>
            <a:r>
              <a:rPr lang="en-US" sz="2400" b="1" dirty="0" smtClean="0">
                <a:solidFill>
                  <a:srgbClr val="16181D"/>
                </a:solidFill>
                <a:latin typeface="Arial" pitchFamily="34" charset="0"/>
                <a:cs typeface="Arial" pitchFamily="34" charset="-120"/>
              </a:rPr>
              <a:t> Brice </a:t>
            </a:r>
            <a:r>
              <a:rPr lang="en-US" sz="2400" b="1" dirty="0" err="1" smtClean="0">
                <a:solidFill>
                  <a:srgbClr val="16181D"/>
                </a:solidFill>
                <a:latin typeface="Arial" pitchFamily="34" charset="0"/>
                <a:cs typeface="Arial" pitchFamily="34" charset="-120"/>
              </a:rPr>
              <a:t>Roméo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44509" y="4343400"/>
            <a:ext cx="6354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 err="1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r>
              <a:rPr lang="en-US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Researcher </a:t>
            </a:r>
            <a:r>
              <a:rPr lang="en-US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</a:t>
            </a:r>
            <a:r>
              <a:rPr lang="en-US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Mohamed VI Polytechnic </a:t>
            </a:r>
            <a:endParaRPr lang="en-US" dirty="0"/>
          </a:p>
          <a:p>
            <a:pPr marL="0" indent="0" algn="ctr">
              <a:buNone/>
            </a:pPr>
            <a:r>
              <a:rPr lang="en-US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Wendemi.ZEMBA-EXT@um6p.ma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21628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1588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1588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501988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81948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22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900" name="Head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188" y="1920240"/>
            <a:ext cx="1828800" cy="1828800"/>
          </a:xfrm>
          <a:prstGeom prst="ellipse">
            <a:avLst/>
          </a:prstGeom>
          <a:ln w="1905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and proposed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55026" y="1024128"/>
            <a:ext cx="5874490" cy="1056132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 of AML transaction-monitoring alerts are false positives.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still investigated by </a:t>
            </a:r>
            <a:r>
              <a:rPr lang="en-US" sz="1450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hand, </a:t>
            </a: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data, screen sanctions, write the SAR.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compliance officer must sign off every filing </a:t>
            </a:r>
            <a:r>
              <a:rPr lang="en-US" sz="1450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</a:t>
            </a: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mandated.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slow, inconsistent, costly, and the risk of late or defective filings.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5508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55080" y="1783080"/>
            <a:ext cx="5349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makes every alert a governed case in UiPath Maestro.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investigate, robots act on systems of record, an MLRO signs off.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is dynamic: duplicates auto-close, sanctions fast-track, weak cases loop back.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is auditable end to </a:t>
            </a:r>
            <a:r>
              <a:rPr lang="en-US" sz="1450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</a:t>
            </a:r>
            <a:r>
              <a:rPr lang="en-US" sz="14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 for regulators.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11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</a:t>
            </a:r>
            <a:r>
              <a:rPr lang="en-US" sz="28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works: </a:t>
            </a: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case, five stages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139696" cy="274320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139696" cy="109728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A2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Dedup, classify, prioritize, route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737360"/>
            <a:ext cx="2139696" cy="274320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737360"/>
            <a:ext cx="2139696" cy="109728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9933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A2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108960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Coded agent + robot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3520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Resolve, analyze, screen,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1737360"/>
            <a:ext cx="2139696" cy="274320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737360"/>
            <a:ext cx="2139696" cy="109728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9933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A2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394960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Coded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3520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FinCEN 5-Ws SAR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1737360"/>
            <a:ext cx="2139696" cy="274320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737360"/>
            <a:ext cx="2139696" cy="109728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19933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BA2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680960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Review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80960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agent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3520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evidence; loop back if thin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84080" y="1737360"/>
            <a:ext cx="2139696" cy="2743200"/>
          </a:xfrm>
          <a:prstGeom prst="rect">
            <a:avLst/>
          </a:prstGeom>
          <a:solidFill>
            <a:srgbClr val="FEF0EB"/>
          </a:solidFill>
          <a:ln w="19050">
            <a:solidFill>
              <a:srgbClr val="FB45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1737360"/>
            <a:ext cx="2139696" cy="109728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19933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B45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966960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66960" y="31821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4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MLRO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66960" y="352044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→ file · reject → dismiss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892040"/>
            <a:ext cx="10911535" cy="713232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89204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by design: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auto-close · sanctions fast-track to a senior MLRO · Quality Review loops back to Investigation · SLA breaches escalate.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37" name="Text 3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731520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orchestration · SLAs · escalation · full audit trail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454298" cy="265176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788920"/>
            <a:ext cx="3454298" cy="457200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383280"/>
            <a:ext cx="308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 (low-code, Agent Builder)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  (coded · LangGraph)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Narrator  (coded · LangGraph)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Review  (low-code)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2788920"/>
            <a:ext cx="3454298" cy="265176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8698" y="2788920"/>
            <a:ext cx="3454298" cy="457200"/>
          </a:xfrm>
          <a:prstGeom prst="rect">
            <a:avLst/>
          </a:prstGeom>
          <a:solidFill>
            <a:srgbClr val="0A5A66"/>
          </a:solidFill>
          <a:ln/>
        </p:spPr>
      </p:sp>
      <p:sp>
        <p:nvSpPr>
          <p:cNvPr id="12" name="Text 10"/>
          <p:cNvSpPr/>
          <p:nvPr/>
        </p:nvSpPr>
        <p:spPr>
          <a:xfrm>
            <a:off x="4368698" y="27889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9866" y="3383280"/>
            <a:ext cx="308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DataFetcher  (API Workflow)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Filer  (</a:t>
            </a:r>
            <a:r>
              <a:rPr lang="en-US" sz="1200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</a:t>
            </a: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the SAR)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Notifier  (escalations)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DocIntake  (Document Understanding)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2788920"/>
            <a:ext cx="3454298" cy="265176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7317" y="2788920"/>
            <a:ext cx="3454298" cy="45720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16" name="Text 14"/>
          <p:cNvSpPr/>
          <p:nvPr/>
        </p:nvSpPr>
        <p:spPr>
          <a:xfrm>
            <a:off x="8097317" y="27889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98485" y="3383280"/>
            <a:ext cx="308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MLRO / Compliance Officer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in Action Center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filing decision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· audited · in 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never touch source </a:t>
            </a:r>
            <a:r>
              <a:rPr lang="en-US" sz="1200" i="1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</a:t>
            </a:r>
            <a:r>
              <a:rPr lang="en-US" sz="1200" i="1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do, behind the UiPath credential vault. A CrewAI build of the Investigator drops in behind the same Maestro stage.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793065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and technologies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477828"/>
              </p:ext>
            </p:extLst>
          </p:nvPr>
        </p:nvGraphicFramePr>
        <p:xfrm>
          <a:off x="640080" y="1600200"/>
          <a:ext cx="5943600" cy="3246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End-user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AML analysts and the MLRO / compliance officer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department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Crime / BSA-AML Compliance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Banking, fintech, payments, crypto, gaming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UiPath products used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Maestro Case, Agent Builder, Coded Agents (Python SDK), Action Center, API Workflows + RPA, Document Understanding, Orchestrator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</a:t>
                      </a: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APIs 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 tech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LangGraph, CrewAI, Claude (Anthropic); built via Claude Code + uip CLI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99516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Benefits, impact and outcomes</a:t>
            </a:r>
            <a:endParaRPr lang="en-US" sz="1600" dirty="0"/>
          </a:p>
        </p:txBody>
      </p:sp>
      <p:sp>
        <p:nvSpPr>
          <p:cNvPr id="5" name="Text 4"/>
          <p:cNvSpPr/>
          <p:nvPr/>
        </p:nvSpPr>
        <p:spPr>
          <a:xfrm>
            <a:off x="6995160" y="169164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Multi-hour manual investigations → minutes of agent work + one human decision.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rigor on every </a:t>
            </a:r>
            <a:r>
              <a:rPr lang="en-US" sz="1350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</a:t>
            </a: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analyst-to-analyst drift.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Reconstructable risk score + complete audit trail → fewer late / defective filings.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is accountable for every SAR filing and dismissal.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path: swap mocks for core-banking, sanctions, and FinCEN E-Filing.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9" name="Text 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depth and coding-agent bonus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72888" cy="1783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91440" cy="1783080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556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agents, one control plane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31136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Agent Builder (Triage, QA) + coded LangGraph agents (Investigator, Narrator) + RPA robots + Document Understanding </a:t>
            </a:r>
            <a:r>
              <a:rPr lang="en-US" sz="1200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</a:t>
            </a: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by Maestro Case.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554480"/>
            <a:ext cx="5272888" cy="1783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8728" y="1554480"/>
            <a:ext cx="91440" cy="1783080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17556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frameworks, governed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3048" y="2231136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Investigator ships in two builds </a:t>
            </a:r>
            <a:r>
              <a:rPr lang="en-US" sz="1200" dirty="0" err="1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r>
              <a:rPr lang="en-US" sz="1200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200" dirty="0" err="1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</a:t>
            </a: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UiPath contract, swappable at the Maestro stage. UiPath stays the orchestration layer.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72888" cy="1783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611880"/>
            <a:ext cx="91440" cy="178308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130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coding agents (+bonus)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288536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coded agents, risk logic, tests, and deploy scripts were built with Claude Code via the UiPath uip CLI. Documented and verifiable in CODING_AGENTS.md.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3611880"/>
            <a:ext cx="5272888" cy="1783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3611880"/>
            <a:ext cx="91440" cy="1783080"/>
          </a:xfrm>
          <a:prstGeom prst="rect">
            <a:avLst/>
          </a:prstGeom>
          <a:solidFill>
            <a:srgbClr val="0BA2B3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48" y="3813048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run, not just demo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53048" y="4288536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coded agents pass automated tests (8 total) and run offline with a deterministic </a:t>
            </a:r>
            <a:r>
              <a:rPr lang="en-US" sz="1200" dirty="0" smtClean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</a:t>
            </a:r>
            <a:r>
              <a:rPr lang="en-US" sz="12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case is never left without a result.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4516"/>
          </a:solidFill>
          <a:ln/>
        </p:spPr>
      </p:sp>
      <p:sp>
        <p:nvSpPr>
          <p:cNvPr id="21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12700">
            <a:solidFill>
              <a:srgbClr val="FBD3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71455" y="274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7315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600" dirty="0">
                <a:solidFill>
                  <a:srgbClr val="FB45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96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9600" dirty="0">
                <a:solidFill>
                  <a:srgbClr val="FB45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</a:t>
            </a:r>
            <a:r>
              <a:rPr lang="en-US" sz="14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investigate, robots act, a compliance officer signs off.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</a:t>
            </a:r>
            <a:r>
              <a:rPr lang="en-US" sz="1400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github.com/BriceZemba/sentinel-aml</a:t>
            </a:r>
            <a:r>
              <a:rPr lang="en-US" sz="1400" dirty="0" smtClean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 </a:t>
            </a: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&amp; deck in the submission.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692</Words>
  <Application>Microsoft Office PowerPoint</Application>
  <PresentationFormat>Widescreen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Agentic AML Investigation Case Manager</dc:title>
  <dc:subject>PptxGenJS Presentation</dc:subject>
  <dc:creator>Sentinel Team</dc:creator>
  <cp:lastModifiedBy>user</cp:lastModifiedBy>
  <cp:revision>10</cp:revision>
  <dcterms:created xsi:type="dcterms:W3CDTF">2026-06-03T00:53:37Z</dcterms:created>
  <dcterms:modified xsi:type="dcterms:W3CDTF">2026-06-03T03:36:15Z</dcterms:modified>
</cp:coreProperties>
</file>