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8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iceZemba/sentinel-a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A2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12700">
            <a:solidFill>
              <a:srgbClr val="3AB3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4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</a:t>
            </a: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AML</a:t>
            </a:r>
            <a:endParaRPr lang="en-US" sz="4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Investigation Case Manager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370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AgentHack</a:t>
            </a:r>
            <a:r>
              <a:rPr lang="en-US" sz="150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Maestro Case.  Build the AI agents of tomorrow.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27080" y="4937760"/>
            <a:ext cx="310896" cy="310896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7" name="Shape 5"/>
          <p:cNvSpPr/>
          <p:nvPr/>
        </p:nvSpPr>
        <p:spPr>
          <a:xfrm>
            <a:off x="10927080" y="5285232"/>
            <a:ext cx="310896" cy="310896"/>
          </a:xfrm>
          <a:prstGeom prst="rect">
            <a:avLst/>
          </a:prstGeom>
          <a:solidFill>
            <a:srgbClr val="0A7B88"/>
          </a:solidFill>
          <a:ln/>
        </p:spPr>
      </p:sp>
      <p:sp>
        <p:nvSpPr>
          <p:cNvPr id="8" name="Shape 6"/>
          <p:cNvSpPr/>
          <p:nvPr/>
        </p:nvSpPr>
        <p:spPr>
          <a:xfrm>
            <a:off x="11274552" y="5285232"/>
            <a:ext cx="310896" cy="310896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9" name="Shape 7"/>
          <p:cNvSpPr/>
          <p:nvPr/>
        </p:nvSpPr>
        <p:spPr>
          <a:xfrm>
            <a:off x="10579608" y="5632704"/>
            <a:ext cx="310896" cy="310896"/>
          </a:xfrm>
          <a:prstGeom prst="rect">
            <a:avLst/>
          </a:prstGeom>
          <a:solidFill>
            <a:srgbClr val="0A7B8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5632704"/>
            <a:ext cx="310896" cy="310896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1274552" y="5632704"/>
            <a:ext cx="310896" cy="310896"/>
          </a:xfrm>
          <a:prstGeom prst="rect">
            <a:avLst/>
          </a:prstGeom>
          <a:solidFill>
            <a:srgbClr val="1C8C9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</a:t>
            </a:r>
            <a:r>
              <a:rPr lang="en-US" sz="2400" b="1" dirty="0" err="1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TheSecond</a:t>
            </a: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Title: </a:t>
            </a: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0868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87188" y="1920240"/>
            <a:ext cx="1828800" cy="1828800"/>
          </a:xfrm>
          <a:prstGeom prst="ellipse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5708" y="26289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84292" y="3886200"/>
            <a:ext cx="4991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ZEMBA </a:t>
            </a:r>
            <a:r>
              <a:rPr lang="en-US" sz="2400" b="1" dirty="0" err="1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Wendemi</a:t>
            </a: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 Brice </a:t>
            </a:r>
            <a:r>
              <a:rPr lang="en-US" sz="2400" b="1" dirty="0" err="1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Roméo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44509" y="4343400"/>
            <a:ext cx="6354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Assitant</a:t>
            </a: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Researcher</a:t>
            </a: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</a:t>
            </a: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Mohamed VI Polytechnic </a:t>
            </a:r>
            <a:endParaRPr lang="en-US" dirty="0"/>
          </a:p>
          <a:p>
            <a:pPr marL="0" indent="0" algn="ctr">
              <a:buNone/>
            </a:pP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Wendemi.ZEMBA-EXT</a:t>
            </a: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@um6p.ma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21628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1588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1588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01988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81948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and 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55026" y="909828"/>
            <a:ext cx="5874490" cy="1143000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 of AML transaction-monitoring alerts are false positives.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still investigated by hand — pull data, screen sanctions, write the SAR.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compliance officer must sign off every filing — it's legally mandated.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slow, inconsistent, costly, and the risk of late or defective filings.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550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55080" y="178308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makes every alert a governed case in UiPath Maestro.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investigate, robots act on systems of record, an MLRO signs off.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is dynamic: duplicates auto-close, sanctions fast-track, weak cases loop back.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is auditable end to end — the differentiator for regulators.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11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</a:t>
            </a:r>
            <a:r>
              <a:rPr lang="en-US" sz="28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works: </a:t>
            </a: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case, five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Dedup, classify, prioritize, route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agent + robot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Resolve, analyze, screen,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FinCEN 5-Ws SAR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80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80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evidence; loop back if thin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1737360"/>
            <a:ext cx="2139696" cy="2743200"/>
          </a:xfrm>
          <a:prstGeom prst="rect">
            <a:avLst/>
          </a:prstGeom>
          <a:solidFill>
            <a:srgbClr val="FEF0EB"/>
          </a:solidFill>
          <a:ln w="19050">
            <a:solidFill>
              <a:srgbClr val="FB45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1737360"/>
            <a:ext cx="2139696" cy="109728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B45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966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66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4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MLRO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→ file · reject → dismiss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10911535" cy="713232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89204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by design: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auto-close · sanctions fast-track to a senior MLRO · Quality Review loops back to Investigation · SLA breaches escalate.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37" name="Text 3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73152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orchestration · SLAs · escalation · full audit trail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54298" cy="265176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88920"/>
            <a:ext cx="3454298" cy="45720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38328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 (low-code, Agent Builder)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  (coded · LangGraph)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Narrator  (coded · LangGraph)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  (low-code)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788920"/>
            <a:ext cx="3454298" cy="265176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8698" y="2788920"/>
            <a:ext cx="3454298" cy="457200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698" y="2788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9866" y="338328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DataFetcher  (API Workflow)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Filer  (RPA — files the SAR)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Notifier  (escalations)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DocIntake  (Document Understanding)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2788920"/>
            <a:ext cx="3454298" cy="265176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7317" y="2788920"/>
            <a:ext cx="3454298" cy="45720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16" name="Text 14"/>
          <p:cNvSpPr/>
          <p:nvPr/>
        </p:nvSpPr>
        <p:spPr>
          <a:xfrm>
            <a:off x="8097317" y="2788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8485" y="338328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MLRO / Compliance Officer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in Action Center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filing decision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· audited · in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never touch source systems — robots do, behind the UiPath credential vault. A CrewAI build of the Investigator drops in behind the same Maestro stage.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and 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943600" cy="3246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AML analysts and the MLRO / compliance officer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department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Crime / BSA-AML Compliance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Banking, fintech, payments, crypto, gaming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UiPath products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Maestro Case, Agent Builder, Coded Agents (Python SDK), Action Center, API Workflows + RPA, Document Understanding, Orchestrator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— APIs / tech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LangGraph, CrewAI, Claude (Anthropic); built via Claude Code + uip CLI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9516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Benefits, impact and outcomes</a:t>
            </a:r>
            <a:endParaRPr lang="en-US" sz="1600" dirty="0"/>
          </a:p>
        </p:txBody>
      </p:sp>
      <p:sp>
        <p:nvSpPr>
          <p:cNvPr id="5" name="Text 4"/>
          <p:cNvSpPr/>
          <p:nvPr/>
        </p:nvSpPr>
        <p:spPr>
          <a:xfrm>
            <a:off x="6995160" y="16916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Multi-hour manual investigations → minutes of agent work + one human decision.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rigor on every alert — no analyst-to-analyst drift.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Reconstructable risk score + complete audit trail → fewer late / defective filings.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is accountable for every SAR filing and dismissal.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path: swap mocks for core-banking, sanctions, and FinCEN E-Filing.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9" name="Text 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depth and coding-agent bonus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178308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556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agents, one control plane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311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Agent Builder (Triage, QA) + coded LangGraph agents (Investigator, Narrator) + RPA robots + Document Understanding — all governed by Maestro Case.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5544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28" y="1554480"/>
            <a:ext cx="91440" cy="178308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7556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frameworks, governed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3048" y="22311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Investigator ships in two builds — LangGraph and CrewAI — behind the same UiPath contract, swappable at the Maestro stage. UiPath stays the orchestration layer.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11880"/>
            <a:ext cx="91440" cy="178308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130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coding agents (+bonus)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2885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coded agents, risk logic, tests, and deploy scripts were built with Claude Code via the UiPath uip CLI. Documented and verifiable in CODING_AGENTS.md.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36118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611880"/>
            <a:ext cx="91440" cy="178308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38130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run, not just demo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3048" y="42885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coded agents pass automated tests (8 total) and run offline with a deterministic fallback — a case is never left without a result.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12700">
            <a:solidFill>
              <a:srgbClr val="FBD3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7315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600" dirty="0">
                <a:solidFill>
                  <a:srgbClr val="FB45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96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600" dirty="0">
                <a:solidFill>
                  <a:srgbClr val="FB45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</a:t>
            </a: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investigate, robots act, a compliance officer signs off.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</a:t>
            </a:r>
            <a:r>
              <a:rPr lang="en-US" sz="140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github.com/BriceZemba/sentinel-aml</a:t>
            </a:r>
            <a:r>
              <a:rPr lang="en-US" sz="140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 </a:t>
            </a: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&amp; deck in the submission.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702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Agentic AML Investigation Case Manager</dc:title>
  <dc:subject>PptxGenJS Presentation</dc:subject>
  <dc:creator>Sentinel Team</dc:creator>
  <cp:lastModifiedBy>user</cp:lastModifiedBy>
  <cp:revision>9</cp:revision>
  <dcterms:created xsi:type="dcterms:W3CDTF">2026-06-03T00:53:37Z</dcterms:created>
  <dcterms:modified xsi:type="dcterms:W3CDTF">2026-06-03T03:05:43Z</dcterms:modified>
</cp:coreProperties>
</file>