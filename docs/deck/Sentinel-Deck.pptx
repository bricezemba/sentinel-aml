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B6A6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914400" cy="91440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60020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SENTINEL</a:t>
            </a:r>
            <a:endParaRPr lang="en-US" sz="6000" dirty="0"/>
          </a:p>
        </p:txBody>
      </p:sp>
      <p:sp>
        <p:nvSpPr>
          <p:cNvPr id="6" name="Text 3"/>
          <p:cNvSpPr/>
          <p:nvPr/>
        </p:nvSpPr>
        <p:spPr>
          <a:xfrm>
            <a:off x="658368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AML Investigation Case Manager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58368" y="4114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investigate.  Robots act.  A compliance officer signs off.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 a governed, fully-audited case on UiPath Maestro.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58368" y="5257800"/>
            <a:ext cx="4206240" cy="457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FB6A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58368" y="52578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Track 1 · UiPath Maestro Case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120640" y="53309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Claude Code + UiPath for Coding Agents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3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Compliance teams are drowning in false alarms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3520440" cy="23317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600200"/>
            <a:ext cx="91440" cy="2331720"/>
          </a:xfrm>
          <a:prstGeom prst="rect">
            <a:avLst/>
          </a:prstGeom>
          <a:solidFill>
            <a:srgbClr val="F2A33C"/>
          </a:solidFill>
          <a:ln/>
        </p:spPr>
      </p:sp>
      <p:sp>
        <p:nvSpPr>
          <p:cNvPr id="6" name="Shape 4"/>
          <p:cNvSpPr/>
          <p:nvPr/>
        </p:nvSpPr>
        <p:spPr>
          <a:xfrm>
            <a:off x="960120" y="1874520"/>
            <a:ext cx="640080" cy="640080"/>
          </a:xfrm>
          <a:prstGeom prst="ellipse">
            <a:avLst/>
          </a:prstGeom>
          <a:solidFill>
            <a:srgbClr val="F2A33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034540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2606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~95%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932688" y="33375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AML transaction-monitoring alerts are false positives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43400" y="1600200"/>
            <a:ext cx="3520440" cy="23317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1600200"/>
            <a:ext cx="91440" cy="2331720"/>
          </a:xfrm>
          <a:prstGeom prst="rect">
            <a:avLst/>
          </a:prstGeom>
          <a:solidFill>
            <a:srgbClr val="1FB6A6"/>
          </a:solidFill>
          <a:ln/>
        </p:spPr>
      </p:sp>
      <p:sp>
        <p:nvSpPr>
          <p:cNvPr id="12" name="Shape 9"/>
          <p:cNvSpPr/>
          <p:nvPr/>
        </p:nvSpPr>
        <p:spPr>
          <a:xfrm>
            <a:off x="4663440" y="1874520"/>
            <a:ext cx="640080" cy="64008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034540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617720" y="2606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Hours</a:t>
            </a:r>
            <a:endParaRPr lang="en-US" sz="4000" dirty="0"/>
          </a:p>
        </p:txBody>
      </p:sp>
      <p:sp>
        <p:nvSpPr>
          <p:cNvPr id="15" name="Text 11"/>
          <p:cNvSpPr/>
          <p:nvPr/>
        </p:nvSpPr>
        <p:spPr>
          <a:xfrm>
            <a:off x="4636008" y="33375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manual work per alert: pull data, screen, write the SAR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46720" y="1600200"/>
            <a:ext cx="3520440" cy="23317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1600200"/>
            <a:ext cx="91440" cy="2331720"/>
          </a:xfrm>
          <a:prstGeom prst="rect">
            <a:avLst/>
          </a:prstGeom>
          <a:solidFill>
            <a:srgbClr val="33B27B"/>
          </a:solidFill>
          <a:ln/>
        </p:spPr>
      </p:sp>
      <p:sp>
        <p:nvSpPr>
          <p:cNvPr id="18" name="Shape 14"/>
          <p:cNvSpPr/>
          <p:nvPr/>
        </p:nvSpPr>
        <p:spPr>
          <a:xfrm>
            <a:off x="8366760" y="1874520"/>
            <a:ext cx="640080" cy="640080"/>
          </a:xfrm>
          <a:prstGeom prst="ellipse">
            <a:avLst/>
          </a:prstGeom>
          <a:solidFill>
            <a:srgbClr val="33B27B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203454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21040" y="2606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</a:t>
            </a:r>
            <a:endParaRPr lang="en-US" sz="4000" dirty="0"/>
          </a:p>
        </p:txBody>
      </p:sp>
      <p:sp>
        <p:nvSpPr>
          <p:cNvPr id="21" name="Text 16"/>
          <p:cNvSpPr/>
          <p:nvPr/>
        </p:nvSpPr>
        <p:spPr>
          <a:xfrm>
            <a:off x="8339328" y="333756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on every filing is legally mandated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640080" y="42976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  </a:t>
            </a:r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inconsistent investigations, analyst burnout, and the risk of late or defective regulatory filings — at enormous cost.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AGENTIC CASE MANAGEMENT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goal is fixed. The path is not.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32004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FIXED FLOW (BPMN)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Predictable, repeatable sequence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steps every time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for flow complexity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fit when work branches on evidence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691640"/>
            <a:ext cx="5257800" cy="320040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63640" y="1691640"/>
            <a:ext cx="91440" cy="3200400"/>
          </a:xfrm>
          <a:prstGeom prst="rect">
            <a:avLst/>
          </a:prstGeom>
          <a:solidFill>
            <a:srgbClr val="1FB6A6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AGENTIC CASE (SENTINEL)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42316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fixed: decide + document every alert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emerges as evidence unfolds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Branches, loops back, escalates dynamically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Humans stay accountable at decision points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5166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investigations are exception-heavy and dynamic — the textbook case for UiPath Maestro Case.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SENTINEL DOES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Every alert flows through five governed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2121408" cy="30175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243584" y="2103120"/>
            <a:ext cx="768096" cy="768096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5608" y="229514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58368" y="301752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Triage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58368" y="340156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Low-code agent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13232" y="374904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Dedup, classify, set priority &amp; SLA, route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2852928" y="1828800"/>
            <a:ext cx="2121408" cy="30175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29584" y="2103120"/>
            <a:ext cx="768096" cy="768096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2295144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944368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2944368" y="301752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Investigation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2944368" y="340156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Coded agent + robot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999232" y="374904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entities, analyze txns, screen, score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138928" y="1828800"/>
            <a:ext cx="2121408" cy="30175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815584" y="2103120"/>
            <a:ext cx="768096" cy="768096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608" y="2295144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230368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700" dirty="0"/>
          </a:p>
        </p:txBody>
      </p:sp>
      <p:sp>
        <p:nvSpPr>
          <p:cNvPr id="22" name="Text 17"/>
          <p:cNvSpPr/>
          <p:nvPr/>
        </p:nvSpPr>
        <p:spPr>
          <a:xfrm>
            <a:off x="5230368" y="301752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Narrative</a:t>
            </a:r>
            <a:endParaRPr lang="en-US" sz="1550" dirty="0"/>
          </a:p>
        </p:txBody>
      </p:sp>
      <p:sp>
        <p:nvSpPr>
          <p:cNvPr id="23" name="Text 18"/>
          <p:cNvSpPr/>
          <p:nvPr/>
        </p:nvSpPr>
        <p:spPr>
          <a:xfrm>
            <a:off x="5230368" y="340156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Coded agent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5285232" y="374904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FinCEN 5-Ws SAR narrative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7424928" y="1828800"/>
            <a:ext cx="2121408" cy="301752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101584" y="2103120"/>
            <a:ext cx="768096" cy="768096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295144"/>
            <a:ext cx="384048" cy="384048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516368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7516368" y="301752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Review</a:t>
            </a:r>
            <a:endParaRPr lang="en-US" sz="1550" dirty="0"/>
          </a:p>
        </p:txBody>
      </p:sp>
      <p:sp>
        <p:nvSpPr>
          <p:cNvPr id="30" name="Text 24"/>
          <p:cNvSpPr/>
          <p:nvPr/>
        </p:nvSpPr>
        <p:spPr>
          <a:xfrm>
            <a:off x="7516368" y="340156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B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Low-code agent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571232" y="374904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evidence; loop back if thin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9710928" y="1828800"/>
            <a:ext cx="2121408" cy="3017520"/>
          </a:xfrm>
          <a:prstGeom prst="rect">
            <a:avLst/>
          </a:prstGeom>
          <a:solidFill>
            <a:srgbClr val="FBF1E2"/>
          </a:solidFill>
          <a:ln w="19050">
            <a:solidFill>
              <a:srgbClr val="F2A33C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10387584" y="2103120"/>
            <a:ext cx="768096" cy="768096"/>
          </a:xfrm>
          <a:prstGeom prst="ellipse">
            <a:avLst/>
          </a:prstGeom>
          <a:solidFill>
            <a:srgbClr val="F2A33C"/>
          </a:solidFill>
          <a:ln/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9608" y="2295144"/>
            <a:ext cx="384048" cy="38404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9802368" y="193852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3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700" dirty="0"/>
          </a:p>
        </p:txBody>
      </p:sp>
      <p:sp>
        <p:nvSpPr>
          <p:cNvPr id="36" name="Text 29"/>
          <p:cNvSpPr/>
          <p:nvPr/>
        </p:nvSpPr>
        <p:spPr>
          <a:xfrm>
            <a:off x="9802368" y="3017520"/>
            <a:ext cx="19385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Disposition</a:t>
            </a:r>
            <a:endParaRPr lang="en-US" sz="1550" dirty="0"/>
          </a:p>
        </p:txBody>
      </p:sp>
      <p:sp>
        <p:nvSpPr>
          <p:cNvPr id="37" name="Text 30"/>
          <p:cNvSpPr/>
          <p:nvPr/>
        </p:nvSpPr>
        <p:spPr>
          <a:xfrm>
            <a:off x="9802368" y="3401568"/>
            <a:ext cx="193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MLRO</a:t>
            </a:r>
            <a:endParaRPr lang="en-US" sz="1050" dirty="0"/>
          </a:p>
        </p:txBody>
      </p:sp>
      <p:sp>
        <p:nvSpPr>
          <p:cNvPr id="38" name="Text 31"/>
          <p:cNvSpPr/>
          <p:nvPr/>
        </p:nvSpPr>
        <p:spPr>
          <a:xfrm>
            <a:off x="9857232" y="3749040"/>
            <a:ext cx="18470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→ file SAR · reject → dismiss</a:t>
            </a:r>
            <a:endParaRPr lang="en-US" sz="1150" dirty="0"/>
          </a:p>
        </p:txBody>
      </p:sp>
      <p:sp>
        <p:nvSpPr>
          <p:cNvPr id="39" name="Text 32"/>
          <p:cNvSpPr/>
          <p:nvPr/>
        </p:nvSpPr>
        <p:spPr>
          <a:xfrm>
            <a:off x="566928" y="51206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by design:  duplicates auto-close · sanctions fast-track · QA loops back to Investigation · SLA breaches escalate</a:t>
            </a:r>
            <a:endParaRPr lang="en-US" sz="1300" dirty="0"/>
          </a:p>
        </p:txBody>
      </p:sp>
      <p:sp>
        <p:nvSpPr>
          <p:cNvPr id="40" name="Text 33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right actor for every task — one control plane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908792" cy="77724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673352"/>
            <a:ext cx="530352" cy="530352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" y="1805940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55448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UiPath Maestro — Case orchestration, SLAs, escalation &amp; audit trail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2606040"/>
            <a:ext cx="3511296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2606040"/>
            <a:ext cx="3511296" cy="502920"/>
          </a:xfrm>
          <a:prstGeom prst="rect">
            <a:avLst/>
          </a:prstGeom>
          <a:solidFill>
            <a:srgbClr val="1FB6A6"/>
          </a:solidFill>
          <a:ln/>
        </p:spPr>
      </p:sp>
      <p:sp>
        <p:nvSpPr>
          <p:cNvPr id="10" name="Shape 7"/>
          <p:cNvSpPr/>
          <p:nvPr/>
        </p:nvSpPr>
        <p:spPr>
          <a:xfrm>
            <a:off x="822960" y="26517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2754630"/>
            <a:ext cx="205740" cy="2057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25880" y="2606040"/>
            <a:ext cx="2779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AGENTS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868680" y="3291840"/>
            <a:ext cx="3099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 (low-code)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Investigator  (coded · LangGraph)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  (coded · LangGraph)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Review  (low-code)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4334256" y="2606040"/>
            <a:ext cx="3511296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34256" y="2606040"/>
            <a:ext cx="3511296" cy="502920"/>
          </a:xfrm>
          <a:prstGeom prst="rect">
            <a:avLst/>
          </a:prstGeom>
          <a:solidFill>
            <a:srgbClr val="33B27B"/>
          </a:solidFill>
          <a:ln/>
        </p:spPr>
      </p:sp>
      <p:sp>
        <p:nvSpPr>
          <p:cNvPr id="16" name="Shape 12"/>
          <p:cNvSpPr/>
          <p:nvPr/>
        </p:nvSpPr>
        <p:spPr>
          <a:xfrm>
            <a:off x="4517136" y="26517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0006" y="2754630"/>
            <a:ext cx="205740" cy="2057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20056" y="2606040"/>
            <a:ext cx="2779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ROBOTS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562856" y="3291840"/>
            <a:ext cx="3099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DataFetcher  (API Workflow)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Filer  (RPA — files the SAR)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Notifier  (escalations)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DocIntake  (Document Understanding)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8028432" y="2606040"/>
            <a:ext cx="3511296" cy="2743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028432" y="2606040"/>
            <a:ext cx="3511296" cy="502920"/>
          </a:xfrm>
          <a:prstGeom prst="rect">
            <a:avLst/>
          </a:prstGeom>
          <a:solidFill>
            <a:srgbClr val="F2A33C"/>
          </a:solidFill>
          <a:ln/>
        </p:spPr>
      </p:sp>
      <p:sp>
        <p:nvSpPr>
          <p:cNvPr id="22" name="Shape 17"/>
          <p:cNvSpPr/>
          <p:nvPr/>
        </p:nvSpPr>
        <p:spPr>
          <a:xfrm>
            <a:off x="8211312" y="2651760"/>
            <a:ext cx="411480" cy="4114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4182" y="2754630"/>
            <a:ext cx="205740" cy="2057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8714232" y="2606040"/>
            <a:ext cx="27797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PEOPLE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8257032" y="3291840"/>
            <a:ext cx="3099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MLRO / Compliance Officer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or rejects in Action Center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filing decision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Accountable, audited, in control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40080" y="55778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never touch source systems — robots do, behind the UiPath credential vault. Every step is logged.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3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HUMAN-IN-THE-LOOP &amp; GOVERNANCE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4980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SAR is ever filed without a human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349240" cy="1554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03120"/>
            <a:ext cx="868680" cy="868680"/>
          </a:xfrm>
          <a:prstGeom prst="ellipse">
            <a:avLst/>
          </a:prstGeom>
          <a:solidFill>
            <a:srgbClr val="F2A33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32029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01168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Binding sign-off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2011680" y="2404872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Narrator graph literally suspends at an interrupt that becomes a UiPath Action Center task. It resumes only when the MLRO submits.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17920" y="1783080"/>
            <a:ext cx="5349240" cy="1554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Shape 7"/>
          <p:cNvSpPr/>
          <p:nvPr/>
        </p:nvSpPr>
        <p:spPr>
          <a:xfrm>
            <a:off x="6492240" y="2103120"/>
            <a:ext cx="868680" cy="86868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9410" y="232029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589520" y="2011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escalation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7589520" y="2404872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exposure fast-tracks to a senior MLRO; SLA breaches auto-escalate to a supervisor with a notification.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566160"/>
            <a:ext cx="5349240" cy="1554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3886200"/>
            <a:ext cx="868680" cy="86868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570" y="410337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2011680" y="3794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Self-correcting loop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2011680" y="4187952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Review bounces thin cases back to Investigation with specific gaps — with a loop guard that hands off to a human after two cycles.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17920" y="3566160"/>
            <a:ext cx="5349240" cy="155448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Shape 15"/>
          <p:cNvSpPr/>
          <p:nvPr/>
        </p:nvSpPr>
        <p:spPr>
          <a:xfrm>
            <a:off x="6492240" y="3886200"/>
            <a:ext cx="868680" cy="86868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410" y="410337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589520" y="37947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 by construction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7589520" y="4187952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stage, agent run, robot job, and human decision is recorded against the case — a trail a regulator can follow.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 UIPATH PLATFORM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governed stack — low-code, coded &amp; external frameworks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41248" y="1883664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201625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828800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Maestro Case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41248" y="2532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Lifecycle, SLAs, escalation, audit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56432" y="1645920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657600" y="1883664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0188" y="2016252"/>
            <a:ext cx="265176" cy="26517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79392" y="1828800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Builder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57600" y="2532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+ QA low-code agents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2784" y="1645920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473952" y="1883664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540" y="2016252"/>
            <a:ext cx="265176" cy="26517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095744" y="1828800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Coded Agents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473952" y="2532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+ LangGraph crews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89136" y="1645920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290304" y="1883664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2892" y="2016252"/>
            <a:ext cx="265176" cy="26517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912096" y="1828800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Center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290304" y="253288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sign-off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640080" y="3310128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41248" y="3547872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3836" y="3680460"/>
            <a:ext cx="265176" cy="26517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63040" y="3493008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API Workflows + RPA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841248" y="419709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DataFetcher · Filer · Notifier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3456432" y="3310128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3657600" y="3547872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0188" y="3680460"/>
            <a:ext cx="265176" cy="26517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279392" y="3493008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 Understanding</a:t>
            </a:r>
            <a:endParaRPr lang="en-US" sz="1200" dirty="0"/>
          </a:p>
        </p:txBody>
      </p:sp>
      <p:sp>
        <p:nvSpPr>
          <p:cNvPr id="33" name="Text 25"/>
          <p:cNvSpPr/>
          <p:nvPr/>
        </p:nvSpPr>
        <p:spPr>
          <a:xfrm>
            <a:off x="3657600" y="419709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KYC document extraction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6272784" y="3310128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6473952" y="3547872"/>
            <a:ext cx="530352" cy="530352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06540" y="3680460"/>
            <a:ext cx="265176" cy="26517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095744" y="3493008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Orchestrator</a:t>
            </a:r>
            <a:endParaRPr lang="en-US" sz="1200" dirty="0"/>
          </a:p>
        </p:txBody>
      </p:sp>
      <p:sp>
        <p:nvSpPr>
          <p:cNvPr id="38" name="Text 29"/>
          <p:cNvSpPr/>
          <p:nvPr/>
        </p:nvSpPr>
        <p:spPr>
          <a:xfrm>
            <a:off x="6473952" y="419709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&amp; schedules agents/robots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9089136" y="3310128"/>
            <a:ext cx="2697480" cy="1481328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9290304" y="3547872"/>
            <a:ext cx="530352" cy="530352"/>
          </a:xfrm>
          <a:prstGeom prst="ellipse">
            <a:avLst/>
          </a:prstGeom>
          <a:solidFill>
            <a:srgbClr val="F2A33C"/>
          </a:solidFill>
          <a:ln/>
        </p:spPr>
      </p:sp>
      <p:pic>
        <p:nvPicPr>
          <p:cNvPr id="4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22892" y="3680460"/>
            <a:ext cx="265176" cy="26517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9912096" y="3493008"/>
            <a:ext cx="1764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UiPath for Coding Agents</a:t>
            </a:r>
            <a:endParaRPr lang="en-US" sz="1200" dirty="0"/>
          </a:p>
        </p:txBody>
      </p:sp>
      <p:sp>
        <p:nvSpPr>
          <p:cNvPr id="43" name="Text 33"/>
          <p:cNvSpPr/>
          <p:nvPr/>
        </p:nvSpPr>
        <p:spPr>
          <a:xfrm>
            <a:off x="9290304" y="4197096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via Claude Code + uip CLI</a:t>
            </a:r>
            <a:endParaRPr lang="en-US" sz="1100" dirty="0"/>
          </a:p>
        </p:txBody>
      </p:sp>
      <p:sp>
        <p:nvSpPr>
          <p:cNvPr id="44" name="Text 34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frameworks under UiPath governance:  </a:t>
            </a:r>
            <a:pPr algn="ctr" indent="0" marL="0">
              <a:buNone/>
            </a:pPr>
            <a:r>
              <a:rPr lang="en-US" sz="13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Investigator &amp; Narrator are LangGraph (LangChain) graphs; a CrewAI variant drops in behind the same Maestro stage.</a:t>
            </a:r>
            <a:endParaRPr lang="en-US" sz="1300" dirty="0"/>
          </a:p>
        </p:txBody>
      </p:sp>
      <p:sp>
        <p:nvSpPr>
          <p:cNvPr id="45" name="Text 35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46" name="Text 36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2A33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3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BONUS · UIPATH FOR CODING AGENTS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This solution was built by Claude Code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914400" cy="914400"/>
          </a:xfrm>
          <a:prstGeom prst="ellipse">
            <a:avLst/>
          </a:prstGeom>
          <a:solidFill>
            <a:srgbClr val="F2A33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488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20240" y="2011680"/>
            <a:ext cx="9509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drove the UiPath uip CLI + skills to build, test, and deploy the coded agents.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77240" y="31546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Investigator &amp; Narrator graphs — written by the coding agent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risk scoring + the Action Center HITL interrupt pattern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✓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 suites (5 passing) and the uip pack → publish → deploy flow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777240" y="4892040"/>
            <a:ext cx="10607040" cy="914400"/>
          </a:xfrm>
          <a:prstGeom prst="rect">
            <a:avLst/>
          </a:prstGeom>
          <a:solidFill>
            <a:srgbClr val="0E1633"/>
          </a:solidFill>
          <a:ln w="12700">
            <a:solidFill>
              <a:srgbClr val="F2A33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48920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&amp; verifiable:  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CODING_AGENTS.md records the tool, its contribution, and evidence (CLI flow, screenshots, session log) — targeting the full +2 platform-usage bonus.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E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2A3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IMPACT &amp; ADOPTION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hours of manual work to minutes + one decision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3520440" cy="219456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1901952"/>
            <a:ext cx="640080" cy="64008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708" y="2061972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606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Minutes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932688" y="3200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investigation replaces hours of manual review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43400" y="1645920"/>
            <a:ext cx="3520440" cy="219456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36008" y="1901952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28" y="2061972"/>
            <a:ext cx="320040" cy="3200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7720" y="2606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Consistent</a:t>
            </a:r>
            <a:endParaRPr lang="en-US" sz="3000" dirty="0"/>
          </a:p>
        </p:txBody>
      </p:sp>
      <p:sp>
        <p:nvSpPr>
          <p:cNvPr id="13" name="Text 9"/>
          <p:cNvSpPr/>
          <p:nvPr/>
        </p:nvSpPr>
        <p:spPr>
          <a:xfrm>
            <a:off x="4636008" y="3200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rigor on every alert — no analyst drift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046720" y="1645920"/>
            <a:ext cx="3520440" cy="219456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7F3"/>
            </a:solidFill>
            <a:prstDash val="solid"/>
          </a:ln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39328" y="1901952"/>
            <a:ext cx="640080" cy="640080"/>
          </a:xfrm>
          <a:prstGeom prst="ellipse">
            <a:avLst/>
          </a:prstGeom>
          <a:solidFill>
            <a:srgbClr val="33B27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348" y="2061972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321040" y="26060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Audit-ready</a:t>
            </a:r>
            <a:endParaRPr lang="en-US" sz="3000" dirty="0"/>
          </a:p>
        </p:txBody>
      </p:sp>
      <p:sp>
        <p:nvSpPr>
          <p:cNvPr id="18" name="Text 13"/>
          <p:cNvSpPr/>
          <p:nvPr/>
        </p:nvSpPr>
        <p:spPr>
          <a:xfrm>
            <a:off x="8339328" y="32004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Reconstructable score + full decision trail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114800"/>
            <a:ext cx="10908792" cy="1463040"/>
          </a:xfrm>
          <a:prstGeom prst="rect">
            <a:avLst/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1E2761">
                <a:alpha val="13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B6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adopts it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914400" y="4709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Banks, fintechs, payment &amp; crypto firms running BSA/AML programs — fewer late filings, lower cost per alert, and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a regulator can follow end to end.</a:t>
            </a:r>
            <a:pPr indent="0" marL="0">
              <a:buNone/>
            </a:pPr>
            <a:r>
              <a:rPr lang="en-US" sz="14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Production path: swap mocked connectors for core-banking, sanctions, and FinCEN E-Filing.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· Track 1: Maestro Case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68735" y="6473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6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B6A6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822960"/>
            <a:ext cx="777240" cy="77724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1017270"/>
            <a:ext cx="388620" cy="3886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17830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Reasoning to agents. Action to robots.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Accountability to people.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49808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orchestrated and governed by UiPath Maestro Case.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731520" y="4023360"/>
            <a:ext cx="3511296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Shape 5"/>
          <p:cNvSpPr/>
          <p:nvPr/>
        </p:nvSpPr>
        <p:spPr>
          <a:xfrm>
            <a:off x="1005840" y="4297680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4434840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691640" y="42793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005840" y="4846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github.com/&lt;you&gt;/sentinel-aml  ·  MIT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425696" y="4023360"/>
            <a:ext cx="3511296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Shape 9"/>
          <p:cNvSpPr/>
          <p:nvPr/>
        </p:nvSpPr>
        <p:spPr>
          <a:xfrm>
            <a:off x="4700016" y="4297680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7176" y="443484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385816" y="42793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 video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4700016" y="4846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walkthrough of the live solution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119872" y="4023360"/>
            <a:ext cx="3511296" cy="13716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Shape 13"/>
          <p:cNvSpPr/>
          <p:nvPr/>
        </p:nvSpPr>
        <p:spPr>
          <a:xfrm>
            <a:off x="8394192" y="4297680"/>
            <a:ext cx="548640" cy="548640"/>
          </a:xfrm>
          <a:prstGeom prst="ellipse">
            <a:avLst/>
          </a:prstGeom>
          <a:solidFill>
            <a:srgbClr val="1FB6A6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1352" y="4434840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079992" y="42793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&amp; docs</a:t>
            </a:r>
            <a:endParaRPr lang="en-US" sz="1500" dirty="0"/>
          </a:p>
        </p:txBody>
      </p:sp>
      <p:sp>
        <p:nvSpPr>
          <p:cNvPr id="21" name="Text 15"/>
          <p:cNvSpPr/>
          <p:nvPr/>
        </p:nvSpPr>
        <p:spPr>
          <a:xfrm>
            <a:off x="8394192" y="48463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setup · CODING_AGENTS.md</a:t>
            </a:r>
            <a:endParaRPr lang="en-US" sz="1100" dirty="0"/>
          </a:p>
        </p:txBody>
      </p:sp>
      <p:sp>
        <p:nvSpPr>
          <p:cNvPr id="22" name="Text 16"/>
          <p:cNvSpPr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8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 · UiPath AgentHack 2026 · Track 1: UiPath Maestro Case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Sentinel — Agentic AML Investigation Case Manager</dc:title>
  <dc:subject>PptxGenJS Presentation</dc:subject>
  <dc:creator>Sentinel Team</dc:creator>
  <cp:lastModifiedBy>Sentinel Team</cp:lastModifiedBy>
  <cp:revision>1</cp:revision>
  <dcterms:created xsi:type="dcterms:W3CDTF">2026-06-01T19:35:49Z</dcterms:created>
  <dcterms:modified xsi:type="dcterms:W3CDTF">2026-06-01T19:35:49Z</dcterms:modified>
</cp:coreProperties>
</file>